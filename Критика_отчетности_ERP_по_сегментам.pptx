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1F4E79"/>
                </a:solidFill>
                <a:latin typeface="Calibri"/>
              </a:defRPr>
            </a:pPr>
            <a:r>
              <a:t>Критика отчетности ERP по сегментам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004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444444"/>
                </a:solidFill>
                <a:latin typeface="Calibri"/>
              </a:defRPr>
            </a:pPr>
            <a:r>
              <a:t>Статус пилота и план доработок (данные на 14.07)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14800"/>
            <a:ext cx="996696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latin typeface="Calibri"/>
              </a:defRPr>
            </a:pPr>
            <a:r>
              <a:t>28 релиз: дедлайн согласования ЧТЗ — 11-Jun</a:t>
            </a:r>
          </a:p>
          <a:p>
            <a:pPr algn="ctr">
              <a:defRPr sz="1400">
                <a:latin typeface="Calibri"/>
              </a:defRPr>
            </a:pPr>
            <a:r>
              <a:t>29 релиз: дедлайн согласования ЧТЗ — 26-Jun</a:t>
            </a:r>
          </a:p>
          <a:p>
            <a:pPr algn="ctr">
              <a:defRPr sz="1400">
                <a:latin typeface="Calibri"/>
              </a:defRPr>
            </a:pPr>
            <a:r>
              <a:t>30 релиз: дедлайн согласования ЧТЗ — 09-Jul</a:t>
            </a:r>
          </a:p>
          <a:p>
            <a:pPr algn="ctr">
              <a:defRPr sz="1400">
                <a:latin typeface="Calibri"/>
              </a:defRPr>
            </a:pPr>
            <a:r>
              <a:t>31 релиз: дедлайн согласования ЧТЗ — 23-Jul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9144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4E79"/>
                </a:solidFill>
                <a:latin typeface="Calibri"/>
              </a:defRPr>
            </a:pPr>
            <a:r>
              <a:t>Критика отчетности ERP по сегментам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137160"/>
            <a:ext cx="640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800" b="1">
                <a:latin typeface="Calibri"/>
              </a:defRPr>
            </a:pPr>
            <a:r>
              <a:t>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594360"/>
          <a:ext cx="1156716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685800"/>
                <a:gridCol w="685800"/>
                <a:gridCol w="4754880"/>
                <a:gridCol w="1051560"/>
                <a:gridCol w="3154680"/>
              </a:tblGrid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Сегмент</a:t>
                      </a:r>
                    </a:p>
                  </a:txBody>
                  <a:tcPr anchor="ctr" marL="50800" marR="50800" marT="25400" marB="254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Доработка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отчета</a:t>
                      </a:r>
                    </a:p>
                  </a:txBody>
                  <a:tcPr anchor="ctr" marL="50800" marR="50800" marT="25400" marB="254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Новый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отчет</a:t>
                      </a:r>
                    </a:p>
                  </a:txBody>
                  <a:tcPr anchor="ctr" marL="50800" marR="50800" marT="25400" marB="254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Описание</a:t>
                      </a:r>
                    </a:p>
                  </a:txBody>
                  <a:tcPr anchor="ctr" marL="50800" marR="50800" marT="25400" marB="254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Трудоемкость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(часы)*</a:t>
                      </a:r>
                    </a:p>
                  </a:txBody>
                  <a:tcPr anchor="ctr" marL="50800" marR="50800" marT="25400" marB="254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Предложение</a:t>
                      </a:r>
                    </a:p>
                  </a:txBody>
                  <a:tcPr anchor="ctr" marL="50800" marR="50800" marT="25400" marB="25400">
                    <a:solidFill>
                      <a:srgbClr val="1F4E79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Выращивание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V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Формирование отчета по услугам охраны, Расходам ИТ отраженным в отчетном периоде на затратных счетах (в первую очередь на 20,23, но также полезно будет если еще будет выбор с 26,44, а также 91 сч)  в разрезе заданного периода, юр лица, с выводом ДТ и КТ сче...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32+32 часов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Блокирует тираж; DEFPROD-10741; снизить до 29, общалась с экономистом, собирают руками не так долго пилот. На этапе тиража будет критика</a:t>
                      </a:r>
                    </a:p>
                  </a:txBody>
                  <a:tcPr anchor="ctr" marL="50800" marR="50800" marT="25400" marB="25400"/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Выращивание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V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Формирование отчета по затратам по дебету 23 счета с выбранным набором подразделений, в  разрезе статей затрат, подразделения, сумм, а также закрытия по обороту данных работ по кредиту в 20 счет по Выращиванию в разрезе площадок (в плоском виде)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32+32 часов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Блокирует тираж; DEFPROD-10742; снизать до 30 взамен на DEFPROD-3875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Выращивание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V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Формирование отчета по всем налогам (имущественный, земельный, водный, НВОС, транспортный), отраженным в отчетном периоде на затратных счетах  (в первую очередь на 20,23, но также полезно будет если еще будет выбор с 26,44, а также 91 сч) в разрезе заданног...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32+32 часов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Блокирует тираж; DEFPROD-10740; снизить до 29, общалась с экономистом, собирают руками не так долго пилот. На этапе тиража будет критика</a:t>
                      </a:r>
                    </a:p>
                  </a:txBody>
                  <a:tcPr anchor="ctr" marL="50800" marR="50800" marT="25400" marB="25400"/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Выращивание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V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Ошибка при выполнении "Проверки" и "Выгрузки" регламентированной бух. отчетности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32+32 часов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Релиз 30--?; DEFPROD-10009; технич.ошибка, дополнительное описание не требуетс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Выращивание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V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Доработать функционал документа, который бы выполнял корректно движения по регистрам с учетом логики использования обособления запасов в разрезе направлений деятельности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40+40 часов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Релиз 28--2; Блокирует тираж; DEFPROD-9405; добавить на достку команду IC/OTC</a:t>
                      </a:r>
                    </a:p>
                  </a:txBody>
                  <a:tcPr anchor="ctr" marL="50800" marR="50800" marT="25400" marB="25400"/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Выращивание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V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Документ Корректировка лимитов остаток бюджета расходится с отчетом по лимитам ГЧ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16+16 часов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Релиз 27--0; Блокирует тираж; DEFPROD-10462; 06.06 - тест-е на TEST успешно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Выращивание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V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В продуктивной базе отчет неверно отрабатывает План-факт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8+8 часов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Блокирует тираж; DEFPROD-10226</a:t>
                      </a:r>
                    </a:p>
                  </a:txBody>
                  <a:tcPr anchor="ctr" marL="50800" marR="50800" marT="25400" marB="25400"/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Выращивание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V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В отчете по лимитам прописывать формулу расчета колонок 3, 8, 9, 14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24+24 часов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Релиз 32; Блокирует тираж; DEFPROD-10780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598932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66666"/>
                </a:solidFill>
                <a:latin typeface="Calibri"/>
              </a:defRPr>
            </a:pPr>
            <a:r>
              <a:t>* оценка по Пилоту    ** трудозатраты: аналитик + разработчик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9144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4E79"/>
                </a:solidFill>
                <a:latin typeface="Calibri"/>
              </a:defRPr>
            </a:pPr>
            <a:r>
              <a:t>Критика отчетности ERP по сегментам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137160"/>
            <a:ext cx="640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800" b="1">
                <a:latin typeface="Calibri"/>
              </a:defRPr>
            </a:pPr>
            <a:r>
              <a:t>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594360"/>
          <a:ext cx="1156716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685800"/>
                <a:gridCol w="685800"/>
                <a:gridCol w="4754880"/>
                <a:gridCol w="1051560"/>
                <a:gridCol w="3154680"/>
              </a:tblGrid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Сегмент</a:t>
                      </a:r>
                    </a:p>
                  </a:txBody>
                  <a:tcPr anchor="ctr" marL="50800" marR="50800" marT="25400" marB="254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Доработка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отчета</a:t>
                      </a:r>
                    </a:p>
                  </a:txBody>
                  <a:tcPr anchor="ctr" marL="50800" marR="50800" marT="25400" marB="254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Новый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отчет</a:t>
                      </a:r>
                    </a:p>
                  </a:txBody>
                  <a:tcPr anchor="ctr" marL="50800" marR="50800" marT="25400" marB="254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Описание</a:t>
                      </a:r>
                    </a:p>
                  </a:txBody>
                  <a:tcPr anchor="ctr" marL="50800" marR="50800" marT="25400" marB="254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Трудоемкость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(часы)*</a:t>
                      </a:r>
                    </a:p>
                  </a:txBody>
                  <a:tcPr anchor="ctr" marL="50800" marR="50800" marT="25400" marB="254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Предложение</a:t>
                      </a:r>
                    </a:p>
                  </a:txBody>
                  <a:tcPr anchor="ctr" marL="50800" marR="50800" marT="25400" marB="25400">
                    <a:solidFill>
                      <a:srgbClr val="1F4E79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Выращивание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V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В отчет Ведомость ОС DEV-385 не попадают данные из документа Изменение параметров ОС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32+32 часов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Релиз 30--?; Блокирует тираж; DEFPROD-9936</a:t>
                      </a:r>
                    </a:p>
                  </a:txBody>
                  <a:tcPr anchor="ctr" marL="50800" marR="50800" marT="25400" marB="25400"/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Выращивание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V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FTR-10833 _АМО РС_отчет_к Пилоту (RTR_выращивание)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80+80 часов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Релиз 30; Блокирует тираж; DEFPROD-10808; ок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Выращивание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V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Функциональность по раздельному учету СХ и отчет "Регистр_Расчет доли дохода от основной деятельности и прочего вида деятельности (по номенклатуре/ОКПД2)"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240+240 часов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Релиз 28--1; Блокирует тираж; DEV-567; 1-ая часть</a:t>
                      </a:r>
                    </a:p>
                  </a:txBody>
                  <a:tcPr anchor="ctr" marL="50800" marR="50800" marT="25400" marB="25400"/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Выращивание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V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Автоматизация статистической отчетности по биологическим активам: П-1 СХ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80+80 часов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Релиз 28; Блокирует тираж; DEV-575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Выращивание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V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Автоматизация статистических форм П-3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60+60 часов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Релиз 28--3; Блокирует тираж; DEV-16336; Базис</a:t>
                      </a:r>
                    </a:p>
                  </a:txBody>
                  <a:tcPr anchor="ctr" marL="50800" marR="50800" marT="25400" marB="25400"/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Выращивание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V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Автоматизация статистических форм П-6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60+60 часов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Релиз 28--4; Блокирует тираж; DEV-16337; Базис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Выращивание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V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Отчет "Разницы между НУ и БУ за заданный период (БУ/НУ/ВР/ПР)"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24+32 часов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Релиз 29--?; Блокирует тираж; DEV-428; 29 релиз - Маша Алешиина</a:t>
                      </a:r>
                    </a:p>
                  </a:txBody>
                  <a:tcPr anchor="ctr" marL="50800" marR="50800" marT="25400" marB="25400"/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Выращивание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V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ITSM 1714231 В отчете Индекс находится за пределами массива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16+16 часов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Релиз 31; Блокирует тираж; DEFPROD-10370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598932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66666"/>
                </a:solidFill>
                <a:latin typeface="Calibri"/>
              </a:defRPr>
            </a:pPr>
            <a:r>
              <a:t>* оценка по Пилоту    ** трудозатраты: аналитик + разработчик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9144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4E79"/>
                </a:solidFill>
                <a:latin typeface="Calibri"/>
              </a:defRPr>
            </a:pPr>
            <a:r>
              <a:t>Критика отчетности ERP по сегментам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137160"/>
            <a:ext cx="640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800" b="1">
                <a:latin typeface="Calibri"/>
              </a:defRPr>
            </a:pPr>
            <a:r>
              <a:t>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594360"/>
          <a:ext cx="1156716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685800"/>
                <a:gridCol w="685800"/>
                <a:gridCol w="4754880"/>
                <a:gridCol w="1051560"/>
                <a:gridCol w="3154680"/>
              </a:tblGrid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Сегмент</a:t>
                      </a:r>
                    </a:p>
                  </a:txBody>
                  <a:tcPr anchor="ctr" marL="50800" marR="50800" marT="25400" marB="254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Доработка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отчета</a:t>
                      </a:r>
                    </a:p>
                  </a:txBody>
                  <a:tcPr anchor="ctr" marL="50800" marR="50800" marT="25400" marB="254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Новый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отчет</a:t>
                      </a:r>
                    </a:p>
                  </a:txBody>
                  <a:tcPr anchor="ctr" marL="50800" marR="50800" marT="25400" marB="254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Описание</a:t>
                      </a:r>
                    </a:p>
                  </a:txBody>
                  <a:tcPr anchor="ctr" marL="50800" marR="50800" marT="25400" marB="254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Трудоемкость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(часы)*</a:t>
                      </a:r>
                    </a:p>
                  </a:txBody>
                  <a:tcPr anchor="ctr" marL="50800" marR="50800" marT="25400" marB="254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Предложение</a:t>
                      </a:r>
                    </a:p>
                  </a:txBody>
                  <a:tcPr anchor="ctr" marL="50800" marR="50800" marT="25400" marB="25400">
                    <a:solidFill>
                      <a:srgbClr val="1F4E79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Выращивание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V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Настроить корректное заполнение реквизита Сумма для заявок на оплату в УЕ в отчете Неоплаченные заявки на оплату по статям ДДС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16+16 часов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Релиз 36; Блокирует тираж; DEFPROD-8123</a:t>
                      </a:r>
                    </a:p>
                  </a:txBody>
                  <a:tcPr anchor="ctr" marL="50800" marR="50800" marT="25400" marB="25400"/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Выращивание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V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Настроить отчет по Валовой прибыли с указанием рентабельности продаж и наценкой на кг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32+32 часов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Релиз 32; Блокирует тираж; DEFPROD-7070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Выращивание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V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Тип данных в отборе по статье бюджета в «Отчете по лимитам» выбирать в зависимости от вида бюджета. БДР = вид: статья доходов и расходов. БДДС = вид: статья ДДС. движения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8+8 часов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Релиз 35; Блокирует тираж; DEFEKTPT-6484</a:t>
                      </a:r>
                    </a:p>
                  </a:txBody>
                  <a:tcPr anchor="ctr" marL="50800" marR="50800" marT="25400" marB="25400"/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Птицепереработка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V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Отчет Себестоимость птицы на убой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80+80 часов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Релиз 30--?; Блокирует тираж; DEFPROD-10698; Лучше поднять до 28 взамен DEFPROD-10741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Птицепереработка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V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Отчет Себестоимость птицы на убой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80+80 часов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Релиз 30--?; Блокирует тираж; DEFPROD-10699; Лучше поднять до 28 взамен DEFPROD-10740</a:t>
                      </a:r>
                    </a:p>
                  </a:txBody>
                  <a:tcPr anchor="ctr" marL="50800" marR="50800" marT="25400" marB="25400"/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Птицепереработка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V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Отчет ГП по SKU добавить суммы к возвратам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40+40 часов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Блокирует тираж; DEFPROD-9990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Птицепереработка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V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Не работает пересчет в ед. отчетов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40+40 часов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Релиз 29; Блокирует тираж; TEAMSTASKS-13881; задача несложная (посмотреть почему не работает пересчет ед. измерения), прошу перенести в 26 (было 33)</a:t>
                      </a:r>
                    </a:p>
                  </a:txBody>
                  <a:tcPr anchor="ctr" marL="50800" marR="50800" marT="25400" marB="25400"/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Птицепереработка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V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Доработка отчета в части интеграции с MES (доп. варианты)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160+120 часов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Релиз 32--?; Блокирует тираж; DEFPROD-10435; нет пока DEV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598932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66666"/>
                </a:solidFill>
                <a:latin typeface="Calibri"/>
              </a:defRPr>
            </a:pPr>
            <a:r>
              <a:t>* оценка по Пилоту    ** трудозатраты: аналитик + разработчик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9144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4E79"/>
                </a:solidFill>
                <a:latin typeface="Calibri"/>
              </a:defRPr>
            </a:pPr>
            <a:r>
              <a:t>Критика отчетности ERP по сегментам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137160"/>
            <a:ext cx="640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800" b="1">
                <a:latin typeface="Calibri"/>
              </a:defRPr>
            </a:pPr>
            <a:r>
              <a:t>4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594360"/>
          <a:ext cx="1156716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685800"/>
                <a:gridCol w="685800"/>
                <a:gridCol w="4754880"/>
                <a:gridCol w="1051560"/>
                <a:gridCol w="3154680"/>
              </a:tblGrid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Сегмент</a:t>
                      </a:r>
                    </a:p>
                  </a:txBody>
                  <a:tcPr anchor="ctr" marL="50800" marR="50800" marT="25400" marB="254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Доработка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отчета</a:t>
                      </a:r>
                    </a:p>
                  </a:txBody>
                  <a:tcPr anchor="ctr" marL="50800" marR="50800" marT="25400" marB="254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Новый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отчет</a:t>
                      </a:r>
                    </a:p>
                  </a:txBody>
                  <a:tcPr anchor="ctr" marL="50800" marR="50800" marT="25400" marB="254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Описание</a:t>
                      </a:r>
                    </a:p>
                  </a:txBody>
                  <a:tcPr anchor="ctr" marL="50800" marR="50800" marT="25400" marB="254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Трудоемкость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(часы)*</a:t>
                      </a:r>
                    </a:p>
                  </a:txBody>
                  <a:tcPr anchor="ctr" marL="50800" marR="50800" marT="25400" marB="254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Предложение</a:t>
                      </a:r>
                    </a:p>
                  </a:txBody>
                  <a:tcPr anchor="ctr" marL="50800" marR="50800" marT="25400" marB="25400">
                    <a:solidFill>
                      <a:srgbClr val="1F4E79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Птицепереработка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V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Дерево себестоимости сохраняется на диск от 15 до 40 минут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24+32 часов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Релиз 29; Блокирует тираж; DEFPROD-9863; ок</a:t>
                      </a:r>
                    </a:p>
                  </a:txBody>
                  <a:tcPr anchor="ctr" marL="50800" marR="50800" marT="25400" marB="25400"/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Птицепереработка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V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Ведомость по учету затрат (текущие затраты и себ-ть птицы на убой)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120+120 часов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Блокирует тираж; DEV-15966; ок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Птицепереработка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V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Разработать отчет по онлайн себестоимости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120+120 часов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Релиз 29; Блокирует тираж; DEFPROD-10915; ок</a:t>
                      </a:r>
                    </a:p>
                  </a:txBody>
                  <a:tcPr anchor="ctr" marL="50800" marR="50800" marT="25400" marB="25400"/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Птицепереработка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V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Отчет по ВКЗ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40+40 часов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Релиз 35; Блокирует тираж; FTR-7074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Птицепереработка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V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Отчет по займам ВГО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40+40 часов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Релиз 35; Блокирует тираж; FTR-7057</a:t>
                      </a:r>
                    </a:p>
                  </a:txBody>
                  <a:tcPr anchor="ctr" marL="50800" marR="50800" marT="25400" marB="25400"/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Птицепереработка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V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Отчет по импортным контрактам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40+40 часов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Релиз 35; Блокирует тираж; FTR-7072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Птицепереработка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V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Отчет по кредитным договорам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24+24 часов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Релиз 35; Блокирует тираж; FTR-7126</a:t>
                      </a:r>
                    </a:p>
                  </a:txBody>
                  <a:tcPr anchor="ctr" marL="50800" marR="50800" marT="25400" marB="25400"/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Птицепереработка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V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Отчет по процентам комиссиям ЮЛ (уплаченные, начисленные)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32+32 часов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Релиз 35; Блокирует тираж; FTR-7110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598932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66666"/>
                </a:solidFill>
                <a:latin typeface="Calibri"/>
              </a:defRPr>
            </a:pPr>
            <a:r>
              <a:t>* оценка по Пилоту    ** трудозатраты: аналитик + разработчик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9144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4E79"/>
                </a:solidFill>
                <a:latin typeface="Calibri"/>
              </a:defRPr>
            </a:pPr>
            <a:r>
              <a:t>Критика отчетности ERP по сегментам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137160"/>
            <a:ext cx="640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800" b="1">
                <a:latin typeface="Calibri"/>
              </a:defRPr>
            </a:pPr>
            <a:r>
              <a:t>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594360"/>
          <a:ext cx="1156716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685800"/>
                <a:gridCol w="685800"/>
                <a:gridCol w="4754880"/>
                <a:gridCol w="1051560"/>
                <a:gridCol w="3154680"/>
              </a:tblGrid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Сегмент</a:t>
                      </a:r>
                    </a:p>
                  </a:txBody>
                  <a:tcPr anchor="ctr" marL="50800" marR="50800" marT="25400" marB="254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Доработка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отчета</a:t>
                      </a:r>
                    </a:p>
                  </a:txBody>
                  <a:tcPr anchor="ctr" marL="50800" marR="50800" marT="25400" marB="254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Новый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отчет</a:t>
                      </a:r>
                    </a:p>
                  </a:txBody>
                  <a:tcPr anchor="ctr" marL="50800" marR="50800" marT="25400" marB="254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Описание</a:t>
                      </a:r>
                    </a:p>
                  </a:txBody>
                  <a:tcPr anchor="ctr" marL="50800" marR="50800" marT="25400" marB="254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Трудоемкость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(часы)*</a:t>
                      </a:r>
                    </a:p>
                  </a:txBody>
                  <a:tcPr anchor="ctr" marL="50800" marR="50800" marT="25400" marB="254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Предложение</a:t>
                      </a:r>
                    </a:p>
                  </a:txBody>
                  <a:tcPr anchor="ctr" marL="50800" marR="50800" marT="25400" marB="25400">
                    <a:solidFill>
                      <a:srgbClr val="1F4E79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Птицепереработка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V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Отчет по экспортным контрактам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40+40 часов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Релиз 35; Блокирует тираж; FTR-7099</a:t>
                      </a:r>
                    </a:p>
                  </a:txBody>
                  <a:tcPr anchor="ctr" marL="50800" marR="50800" marT="25400" marB="25400"/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Птицепереработка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V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Дефект реестра платежей (отчет по лимитам) - часть 2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80+80 часов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Релиз 34; Блокирует тираж; DEFPROD-4462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Птицепереработка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V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Замечания к отчету соответствия птиу и зно ч2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32+32 часов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Релиз 33; Блокирует тираж; DEFPROD-9797</a:t>
                      </a:r>
                    </a:p>
                  </a:txBody>
                  <a:tcPr anchor="ctr" marL="50800" marR="50800" marT="25400" marB="25400"/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Птицепереработка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V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Отчет Ведомость ОС вывести в поля, доступные для отбора информацию из РС"Объекты по договору залога", реквизит Комментарий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32+32 часов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Релиз 33; Блокирует тираж; DEFPROD-9825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Птицепереработка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V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Отчет по убою доработать возможность формирования с помощью регламентированного задания после выгрузки в Оракл и выгрузка вне системы SAP например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40+40 часов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Передать в non-ERP</a:t>
                      </a:r>
                    </a:p>
                  </a:txBody>
                  <a:tcPr anchor="ctr" marL="50800" marR="50800" marT="25400" marB="25400"/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Птицепереработка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V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Дерево себестоимости - Даты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16+16 часов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Релиз 36; Блокирует тираж; DEFPROD-9879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Птицепереработка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V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Доработки к отчету о прослеживаемости партии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0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Релиз перенести в дорабтки к тиражу?; Блокирует тираж; DEFPROD-10694; MTD – Переработка</a:t>
                      </a:r>
                    </a:p>
                  </a:txBody>
                  <a:tcPr anchor="ctr" marL="50800" marR="50800" marT="25400" marB="25400"/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Птицепереработка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V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Переработка отчета по лимитам ГЧ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120+120 часов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Релиз 30--?; DEFPROD-11030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598932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66666"/>
                </a:solidFill>
                <a:latin typeface="Calibri"/>
              </a:defRPr>
            </a:pPr>
            <a:r>
              <a:t>* оценка по Пилоту    ** трудозатраты: аналитик + разработчик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9144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4E79"/>
                </a:solidFill>
                <a:latin typeface="Calibri"/>
              </a:defRPr>
            </a:pPr>
            <a:r>
              <a:t>Критика отчетности ERP по сегментам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137160"/>
            <a:ext cx="640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800" b="1">
                <a:latin typeface="Calibri"/>
              </a:defRPr>
            </a:pPr>
            <a:r>
              <a:t>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594360"/>
          <a:ext cx="1156716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685800"/>
                <a:gridCol w="685800"/>
                <a:gridCol w="4754880"/>
                <a:gridCol w="1051560"/>
                <a:gridCol w="3154680"/>
              </a:tblGrid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Сегмент</a:t>
                      </a:r>
                    </a:p>
                  </a:txBody>
                  <a:tcPr anchor="ctr" marL="50800" marR="50800" marT="25400" marB="254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Доработка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отчета</a:t>
                      </a:r>
                    </a:p>
                  </a:txBody>
                  <a:tcPr anchor="ctr" marL="50800" marR="50800" marT="25400" marB="254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Новый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отчет</a:t>
                      </a:r>
                    </a:p>
                  </a:txBody>
                  <a:tcPr anchor="ctr" marL="50800" marR="50800" marT="25400" marB="254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Описание</a:t>
                      </a:r>
                    </a:p>
                  </a:txBody>
                  <a:tcPr anchor="ctr" marL="50800" marR="50800" marT="25400" marB="254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Трудоемкость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(часы)*</a:t>
                      </a:r>
                    </a:p>
                  </a:txBody>
                  <a:tcPr anchor="ctr" marL="50800" marR="50800" marT="25400" marB="254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Предложение</a:t>
                      </a:r>
                    </a:p>
                  </a:txBody>
                  <a:tcPr anchor="ctr" marL="50800" marR="50800" marT="25400" marB="25400">
                    <a:solidFill>
                      <a:srgbClr val="1F4E79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Все сегменты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V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Автоматизация статистического ежемесячного отчета 1-цены производителей, все сегменты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60+60 часов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Релиз 28; Блокирует тираж; DEV-579</a:t>
                      </a:r>
                    </a:p>
                  </a:txBody>
                  <a:tcPr anchor="ctr" marL="50800" marR="50800" marT="25400" marB="25400"/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Все сегменты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V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Автоматизация статистического ежемесячного отчета 2-цены приобретения, все сегменты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60+60 часов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Релиз 30; Блокирует тираж; DEV-580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Все сегменты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V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Автоматизация статистического ежеквартального отчета П-2, все сегменты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60+60 часов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Релиз 28; Блокирует тираж; DEV-16335</a:t>
                      </a:r>
                    </a:p>
                  </a:txBody>
                  <a:tcPr anchor="ctr" marL="50800" marR="50800" marT="25400" marB="25400"/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Все сегменты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V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Автоматизация статистического ежеквартального отчета 5-з, все сегменты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60+60 часов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Релиз 29; Блокирует тираж; DEV-16381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Прочее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V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ГКЧ_Правила заполнения реквизита Стоимость в отчете по перевозкам по собственным перевозкам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40+40 часов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Релиз 27; Блокирует тираж; DEFPROD-10024; Добавил связана с DEV-16980</a:t>
                      </a:r>
                    </a:p>
                  </a:txBody>
                  <a:tcPr anchor="ctr" marL="50800" marR="50800" marT="25400" marB="25400"/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Прочее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V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Отчет для выделения ПУПЛ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60+60 часов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Релиз 31; DEFPROD-8766; поменять приоритет, релиз вендора?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Прочее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V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В документе «Заявка на корректировку планов и лимитов» у «Бюджетодержателя» при нажатии на «Согласование» должны быть кнопки «На согласовании» и «Отменить согласование». Когда он нажимает на кнопку «На согласовании» у Документа «Заявка на корректировку» ста...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60+60 часов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Релиз 32; Блокирует тираж; DEFPROD-10777</a:t>
                      </a:r>
                    </a:p>
                  </a:txBody>
                  <a:tcPr anchor="ctr" marL="50800" marR="50800" marT="25400" marB="25400"/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Прочее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V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Отчет БДДС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60+60 часов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Релиз 35; Блокирует тираж; FTR-7065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598932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66666"/>
                </a:solidFill>
                <a:latin typeface="Calibri"/>
              </a:defRPr>
            </a:pPr>
            <a:r>
              <a:t>* оценка по Пилоту    ** трудозатраты: аналитик + разработчик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9144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4E79"/>
                </a:solidFill>
                <a:latin typeface="Calibri"/>
              </a:defRPr>
            </a:pPr>
            <a:r>
              <a:t>Критика отчетности ERP по сегментам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137160"/>
            <a:ext cx="640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800" b="1">
                <a:latin typeface="Calibri"/>
              </a:defRPr>
            </a:pPr>
            <a:r>
              <a:t>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594360"/>
          <a:ext cx="1156716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685800"/>
                <a:gridCol w="685800"/>
                <a:gridCol w="4754880"/>
                <a:gridCol w="1051560"/>
                <a:gridCol w="3154680"/>
              </a:tblGrid>
              <a:tr h="130302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Сегмент</a:t>
                      </a:r>
                    </a:p>
                  </a:txBody>
                  <a:tcPr anchor="ctr" marL="50800" marR="50800" marT="25400" marB="254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Доработка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отчета</a:t>
                      </a:r>
                    </a:p>
                  </a:txBody>
                  <a:tcPr anchor="ctr" marL="50800" marR="50800" marT="25400" marB="254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Новый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отчет</a:t>
                      </a:r>
                    </a:p>
                  </a:txBody>
                  <a:tcPr anchor="ctr" marL="50800" marR="50800" marT="25400" marB="254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Описание</a:t>
                      </a:r>
                    </a:p>
                  </a:txBody>
                  <a:tcPr anchor="ctr" marL="50800" marR="50800" marT="25400" marB="254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Трудоемкость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(часы)*</a:t>
                      </a:r>
                    </a:p>
                  </a:txBody>
                  <a:tcPr anchor="ctr" marL="50800" marR="50800" marT="25400" marB="254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Предложение</a:t>
                      </a:r>
                    </a:p>
                  </a:txBody>
                  <a:tcPr anchor="ctr" marL="50800" marR="50800" marT="25400" marB="25400">
                    <a:solidFill>
                      <a:srgbClr val="1F4E79"/>
                    </a:solidFill>
                  </a:tcPr>
                </a:tc>
              </a:tr>
              <a:tr h="130302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Прочее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V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Отчет план/факт ДДС + заявки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80+80 часов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Релиз 35; Блокирует тираж; FTR-7577</a:t>
                      </a:r>
                    </a:p>
                  </a:txBody>
                  <a:tcPr anchor="ctr" marL="50800" marR="50800" marT="25400" marB="25400"/>
                </a:tc>
              </a:tr>
              <a:tr h="130302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Прочее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V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Ограничить круг пользователей для редактирования отчета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0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Блокирует тираж; DEFPROD-10216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</a:tr>
              <a:tr h="130302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Прочее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DEFPROD-11111: Корректировка отчета по WMS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latin typeface="Calibri"/>
                        </a:rPr>
                        <a:t>0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latin typeface="Calibri"/>
                        </a:rPr>
                        <a:t>Релиз 28--9; DEFPROD-11111</a:t>
                      </a:r>
                    </a:p>
                  </a:txBody>
                  <a:tcPr anchor="ctr" marL="50800" marR="50800" marT="25400" marB="25400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598932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66666"/>
                </a:solidFill>
                <a:latin typeface="Calibri"/>
              </a:defRPr>
            </a:pPr>
            <a:r>
              <a:t>* оценка по Пилоту    ** трудозатраты: аналитик + разработчик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4E79"/>
                </a:solidFill>
              </a:defRPr>
            </a:pPr>
            <a:r>
              <a:t>Сводка по сегментам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097280"/>
          <a:ext cx="96012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371600"/>
                <a:gridCol w="1371600"/>
                <a:gridCol w="1371600"/>
                <a:gridCol w="3200400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Сегмент</a:t>
                      </a:r>
                    </a:p>
                  </a:txBody>
                  <a:tcPr anchor="ctr" marL="50800" marR="50800" marT="25400" marB="254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Кол-во задач</a:t>
                      </a:r>
                    </a:p>
                  </a:txBody>
                  <a:tcPr anchor="ctr" marL="50800" marR="50800" marT="25400" marB="254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Доработка</a:t>
                      </a:r>
                    </a:p>
                  </a:txBody>
                  <a:tcPr anchor="ctr" marL="50800" marR="50800" marT="25400" marB="254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Новый отчет</a:t>
                      </a:r>
                    </a:p>
                  </a:txBody>
                  <a:tcPr anchor="ctr" marL="50800" marR="50800" marT="25400" marB="254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Часы (аналитика+разработка)</a:t>
                      </a:r>
                    </a:p>
                  </a:txBody>
                  <a:tcPr anchor="ctr" marL="50800" marR="50800" marT="25400" marB="25400">
                    <a:solidFill>
                      <a:srgbClr val="1F4E7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latin typeface="Calibri"/>
                        </a:rPr>
                        <a:t>Выращивание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latin typeface="Calibri"/>
                        </a:rPr>
                        <a:t>19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latin typeface="Calibri"/>
                        </a:rPr>
                        <a:t>10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latin typeface="Calibri"/>
                        </a:rPr>
                        <a:t>9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latin typeface="Calibri"/>
                        </a:rPr>
                        <a:t>1736</a:t>
                      </a:r>
                    </a:p>
                  </a:txBody>
                  <a:tcPr anchor="ctr" marL="50800" marR="50800" marT="25400" marB="25400"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latin typeface="Calibri"/>
                        </a:rPr>
                        <a:t>Птицепереработка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latin typeface="Calibri"/>
                        </a:rPr>
                        <a:t>21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latin typeface="Calibri"/>
                        </a:rPr>
                        <a:t>12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latin typeface="Calibri"/>
                        </a:rPr>
                        <a:t>9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latin typeface="Calibri"/>
                        </a:rPr>
                        <a:t>2368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latin typeface="Calibri"/>
                        </a:rPr>
                        <a:t>Все сегменты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latin typeface="Calibri"/>
                        </a:rPr>
                        <a:t>4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latin typeface="Calibri"/>
                        </a:rPr>
                        <a:t>0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latin typeface="Calibri"/>
                        </a:rPr>
                        <a:t>4</a:t>
                      </a:r>
                    </a:p>
                  </a:txBody>
                  <a:tcPr anchor="ctr" marL="50800" marR="50800" marT="25400" marB="254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latin typeface="Calibri"/>
                        </a:rPr>
                        <a:t>480</a:t>
                      </a:r>
                    </a:p>
                  </a:txBody>
                  <a:tcPr anchor="ctr" marL="50800" marR="50800" marT="25400" marB="25400"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latin typeface="Calibri"/>
                        </a:rPr>
                        <a:t>Прочее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latin typeface="Calibri"/>
                        </a:rPr>
                        <a:t>7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latin typeface="Calibri"/>
                        </a:rPr>
                        <a:t>3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latin typeface="Calibri"/>
                        </a:rPr>
                        <a:t>3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latin typeface="Calibri"/>
                        </a:rPr>
                        <a:t>600</a:t>
                      </a:r>
                    </a:p>
                  </a:txBody>
                  <a:tcPr anchor="ctr" marL="50800" marR="50800" marT="25400" marB="25400">
                    <a:solidFill>
                      <a:srgbClr val="EEF5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