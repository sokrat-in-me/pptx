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acker.yandex.ru/DEFPROD-6138" TargetMode="External"/><Relationship Id="rId4" Type="http://schemas.openxmlformats.org/officeDocument/2006/relationships/hyperlink" Target="https://tracker.yandex.ru/DEFPROD-9222" TargetMode="External"/><Relationship Id="rId5" Type="http://schemas.openxmlformats.org/officeDocument/2006/relationships/hyperlink" Target="https://tracker.yandex.ru/DEFPROD-6804" TargetMode="External"/><Relationship Id="rId6" Type="http://schemas.openxmlformats.org/officeDocument/2006/relationships/hyperlink" Target="https://tracker.yandex.ru/DEFPROD-10592" TargetMode="External"/><Relationship Id="rId7" Type="http://schemas.openxmlformats.org/officeDocument/2006/relationships/hyperlink" Target="https://tracker.yandex.ru/DEFPROD-9603" TargetMode="External"/><Relationship Id="rId8" Type="http://schemas.openxmlformats.org/officeDocument/2006/relationships/hyperlink" Target="https://tracker.yandex.ru/DEFPROD-10301" TargetMode="External"/><Relationship Id="rId9" Type="http://schemas.openxmlformats.org/officeDocument/2006/relationships/hyperlink" Target="https://tracker.yandex.ru/FTR-7065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acker.yandex.ru/FTR-7063" TargetMode="External"/><Relationship Id="rId4" Type="http://schemas.openxmlformats.org/officeDocument/2006/relationships/hyperlink" Target="https://tracker.yandex.ru/FTR-7577" TargetMode="External"/><Relationship Id="rId5" Type="http://schemas.openxmlformats.org/officeDocument/2006/relationships/hyperlink" Target="https://tracker.yandex.ru/FTR-7074" TargetMode="External"/><Relationship Id="rId6" Type="http://schemas.openxmlformats.org/officeDocument/2006/relationships/hyperlink" Target="https://tracker.yandex.ru/FTR-7057" TargetMode="External"/><Relationship Id="rId7" Type="http://schemas.openxmlformats.org/officeDocument/2006/relationships/hyperlink" Target="https://tracker.yandex.ru/FTR-7072" TargetMode="External"/><Relationship Id="rId8" Type="http://schemas.openxmlformats.org/officeDocument/2006/relationships/hyperlink" Target="https://tracker.yandex.ru/FTR-7126" TargetMode="External"/><Relationship Id="rId9" Type="http://schemas.openxmlformats.org/officeDocument/2006/relationships/hyperlink" Target="https://tracker.yandex.ru/FTR-7110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acker.yandex.ru/FTR-7099" TargetMode="External"/><Relationship Id="rId4" Type="http://schemas.openxmlformats.org/officeDocument/2006/relationships/hyperlink" Target="https://tracker.yandex.ru/DEFPROD-7954" TargetMode="External"/><Relationship Id="rId5" Type="http://schemas.openxmlformats.org/officeDocument/2006/relationships/hyperlink" Target="https://tracker.yandex.ru/DEFPROD-9229" TargetMode="External"/><Relationship Id="rId6" Type="http://schemas.openxmlformats.org/officeDocument/2006/relationships/hyperlink" Target="https://tracker.yandex.ru/DEFPROD-9289" TargetMode="External"/><Relationship Id="rId7" Type="http://schemas.openxmlformats.org/officeDocument/2006/relationships/hyperlink" Target="https://tracker.yandex.ru/DEFPROD-9430" TargetMode="External"/><Relationship Id="rId8" Type="http://schemas.openxmlformats.org/officeDocument/2006/relationships/hyperlink" Target="https://tracker.yandex.ru/DEFPROD-960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acker.yandex.ru/DEFPROD-4335" TargetMode="External"/><Relationship Id="rId4" Type="http://schemas.openxmlformats.org/officeDocument/2006/relationships/hyperlink" Target="https://tracker.yandex.ru/DEFPROD-4462" TargetMode="External"/><Relationship Id="rId5" Type="http://schemas.openxmlformats.org/officeDocument/2006/relationships/hyperlink" Target="https://tracker.yandex.ru/DEFPROD-4686" TargetMode="External"/><Relationship Id="rId6" Type="http://schemas.openxmlformats.org/officeDocument/2006/relationships/hyperlink" Target="https://tracker.yandex.ru/DEFPROD-5641" TargetMode="External"/><Relationship Id="rId7" Type="http://schemas.openxmlformats.org/officeDocument/2006/relationships/hyperlink" Target="https://tracker.yandex.ru/DEFPROD-6026" TargetMode="External"/><Relationship Id="rId8" Type="http://schemas.openxmlformats.org/officeDocument/2006/relationships/hyperlink" Target="https://tracker.yandex.ru/DEFPROD-6290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acker.yandex.ru/DEFPROD-6703" TargetMode="External"/><Relationship Id="rId4" Type="http://schemas.openxmlformats.org/officeDocument/2006/relationships/hyperlink" Target="https://tracker.yandex.ru/DEFPROD-7774" TargetMode="External"/><Relationship Id="rId5" Type="http://schemas.openxmlformats.org/officeDocument/2006/relationships/hyperlink" Target="https://tracker.yandex.ru/DEFPROD-9034" TargetMode="External"/><Relationship Id="rId6" Type="http://schemas.openxmlformats.org/officeDocument/2006/relationships/hyperlink" Target="https://tracker.yandex.ru/DEFPROD-9797" TargetMode="External"/><Relationship Id="rId7" Type="http://schemas.openxmlformats.org/officeDocument/2006/relationships/hyperlink" Target="https://tracker.yandex.ru/DEFPROD-9845" TargetMode="External"/><Relationship Id="rId8" Type="http://schemas.openxmlformats.org/officeDocument/2006/relationships/hyperlink" Target="https://tracker.yandex.ru/DEFPROD-10152" TargetMode="External"/><Relationship Id="rId9" Type="http://schemas.openxmlformats.org/officeDocument/2006/relationships/hyperlink" Target="https://tracker.yandex.ru/DEFPROD-10281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acker.yandex.ru/DEFPROD-10282" TargetMode="External"/><Relationship Id="rId4" Type="http://schemas.openxmlformats.org/officeDocument/2006/relationships/hyperlink" Target="https://tracker.yandex.ru/DEFPROD-10579" TargetMode="External"/><Relationship Id="rId5" Type="http://schemas.openxmlformats.org/officeDocument/2006/relationships/hyperlink" Target="https://tracker.yandex.ru/DEFPROD-6889" TargetMode="External"/><Relationship Id="rId6" Type="http://schemas.openxmlformats.org/officeDocument/2006/relationships/hyperlink" Target="https://tracker.yandex.ru/DEFPROD-8123" TargetMode="External"/><Relationship Id="rId7" Type="http://schemas.openxmlformats.org/officeDocument/2006/relationships/hyperlink" Target="https://tracker.yandex.ru/DEV-426" TargetMode="External"/><Relationship Id="rId8" Type="http://schemas.openxmlformats.org/officeDocument/2006/relationships/hyperlink" Target="https://tracker.yandex.ru/DEFPROD-3711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acker.yandex.ru/FTR-12144" TargetMode="External"/><Relationship Id="rId4" Type="http://schemas.openxmlformats.org/officeDocument/2006/relationships/hyperlink" Target="https://tracker.yandex.ru/DEFPROD-9230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172" y="102412"/>
            <a:ext cx="2423160" cy="8936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095" y="33009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1223"/>
                </a:solidFill>
                <a:latin typeface="Verdana"/>
              </a:rPr>
              <a:t>Дефекты и разработки по Пилоту (1/7)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095" y="1030528"/>
          <a:ext cx="11415367" cy="54882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974"/>
                <a:gridCol w="863193"/>
                <a:gridCol w="3704234"/>
                <a:gridCol w="3461004"/>
                <a:gridCol w="1194206"/>
                <a:gridCol w="1711756"/>
              </a:tblGrid>
              <a:tr h="7388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№пп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Ключ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Задача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Ценность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Предварительная
оценка
реализации,
тыс.руб.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Статус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3"/>
                        </a:rPr>
                        <a:t>DEFPROD-6138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DEFPROD-6138: Ошибка функциональности - Убрать контроль, запрещающий создание ЗНО на основании договора с видом ОРЕХ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Снимет избыточные контроли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29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4"/>
                        </a:rPr>
                        <a:t>DEFPROD-9222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DEFPROD-9222: Ошибка функциональности - Ошибка формирования документа ЗНО.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Автоматизация формирования заявок на оплату по зарплате, снижение трудозатрат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30 релиз, поенять ответственного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5"/>
                        </a:rPr>
                        <a:t>DEFPROD-6804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DEFPROD-6804: Ошибка функциональности - Доработать реквизит Контроль в справочнике ГЧ_Условия оплаты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Снимет нагрузку с бизнеса и вероятность ошибки при заполнении условий оплаты. Ошибка влияет на дальнейший процесс оплаты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31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6"/>
                        </a:rPr>
                        <a:t>DEFPROD-10592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DEFPROD-10592: Новое требование - Добавить права профилю Руководитель ЕРЦ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Реализация согласованного бизнес-процесса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29 релиз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7"/>
                        </a:rPr>
                        <a:t>DEFPROD-9603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DEFPROD-9603: Ошибка функциональности - Для корректной детализации по 67 счету необходимо произвести доработки: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уберет ежемесячную ручную корректировку ОСВ для предоставления в банк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уточнить требования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8"/>
                        </a:rPr>
                        <a:t>DEFPROD-10301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DEFPROD-10301: Новое требование - В платежных поручениях без галочки «оплата по заявке» заполнение счета получателя не обязательно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Снимет нагрузку по заведению банковского счета в SAP MDG (по вх.п/п и безакцептным платежам он не нужен)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29 релиз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9"/>
                        </a:rPr>
                        <a:t>FTR-7065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FTR-7065: разработка - Отчет БДДС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снятие ручного труда за счет автоматизации формирования отчета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35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172" y="102412"/>
            <a:ext cx="2423160" cy="8936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095" y="33009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1223"/>
                </a:solidFill>
                <a:latin typeface="Verdana"/>
              </a:rPr>
              <a:t>Дефекты и разработки по Пилоту (2/7)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095" y="1030528"/>
          <a:ext cx="11415367" cy="54882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974"/>
                <a:gridCol w="863193"/>
                <a:gridCol w="3704234"/>
                <a:gridCol w="3461004"/>
                <a:gridCol w="1194206"/>
                <a:gridCol w="1711756"/>
              </a:tblGrid>
              <a:tr h="7388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№пп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Ключ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Задача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Ценность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Предварительная
оценка
реализации,
тыс.руб.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Статус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3"/>
                        </a:rPr>
                        <a:t>FTR-7063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FTR-7063: разработка - Консолидация ДДС за день/месяц по сегментам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снятие ручного труда за счет автоматизации формирования отчета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35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4"/>
                        </a:rPr>
                        <a:t>FTR-7577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FTR-7577: разработка - Отчет план/факт ДДС + заявки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снятие ручного труда за счет автоматизации формирования отчета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35 релиз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5"/>
                        </a:rPr>
                        <a:t>FTR-7074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FTR-7074: разработка - Отчет по ВКЗ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снятие ручного труда за счет автоматизации формирования отчета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35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6"/>
                        </a:rPr>
                        <a:t>FTR-7057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FTR-7057: разработка - Отчет по займам ВГО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снятие ручного труда за счет автоматизации формирования отчета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35 релиз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7"/>
                        </a:rPr>
                        <a:t>FTR-7072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FTR-7072: разработка - Отчет по импортным контрактам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снятие ручного труда за счет автоматизации формирования отчета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35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8"/>
                        </a:rPr>
                        <a:t>FTR-7126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FTR-7126: разработка - Отчет по кредитным договорам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снятие ручного труда за счет автоматизации формирования отчета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35 релиз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9"/>
                        </a:rPr>
                        <a:t>FTR-7110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FTR-7110: разработка - Отчет по процентам комиссиям ЮЛ (уплаченные, начисленные)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снятие ручного труда за счет автоматизации формирования отчета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35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172" y="102412"/>
            <a:ext cx="2423160" cy="8936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095" y="33009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1223"/>
                </a:solidFill>
                <a:latin typeface="Verdana"/>
              </a:rPr>
              <a:t>Дефекты и разработки по Пилоту (3/7)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095" y="1030528"/>
          <a:ext cx="11415367" cy="5082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974"/>
                <a:gridCol w="863193"/>
                <a:gridCol w="3704234"/>
                <a:gridCol w="3461004"/>
                <a:gridCol w="1194206"/>
                <a:gridCol w="1711756"/>
              </a:tblGrid>
              <a:tr h="7388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№пп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Ключ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Задача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Ценность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Предварительная
оценка
реализации,
тыс.руб.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Статус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3"/>
                        </a:rPr>
                        <a:t>FTR-7099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FTR-7099: разработка - Отчет по экспортным контрактам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снятие ручного труда за счет автоматизации формирования отчета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35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4"/>
                        </a:rPr>
                        <a:t>DEFPROD-7954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DEFPROD-7954: Ошибка функциональности - Реализовать уведомления инициаторам заявок на оплату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Упростит работу с заявками для инициаторов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30 релиз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876427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5"/>
                        </a:rPr>
                        <a:t>DEFPROD-9229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DEFPROD-9229: Ошибка функциональности - Сделать контроль: в случае проставлении галочки "перечисление в бюджет" в документе ЗНО не проводить ЗНО без заполнения реквизитов: КБК, ОКТМО, УИН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Снимет нагрузку с ЕРЦ по вводу реквизитов в момент оплаты. Заявка до платжного дня должна быть полностью готова к оплате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30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7157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6"/>
                        </a:rPr>
                        <a:t>DEFPROD-9289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DEFPROD-9289: Ошибка функциональности - Контроль соответствия даты в "ожидает исполнения" и даты платежа в ЗНО для исключения ситуаций, описанных в приложенном письме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Уберет двоякость в понимании сроков оплаты, дата платежа должна быть одна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30 релиз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7"/>
                        </a:rPr>
                        <a:t>DEFPROD-9430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DEFPROD-9430: Ошибка функциональности - Реестры платежей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Устранение ошибок в работе типового инструмента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30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7157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8"/>
                        </a:rPr>
                        <a:t>DEFPROD-9604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DEFPROD-9604: Ошибка функциональности - При зачете фактического платежа, если была осуществлена переплата, то должны производиться корректировки по графику плановому.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Даст наличие в системе корректного графика платежей, который будет соовтетствовать графику банка. Исключит риск переплаты (сейчас сумма редактируется вручную)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уточнить требования релиз, проговорить в БЭ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172" y="102412"/>
            <a:ext cx="2423160" cy="8936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095" y="33009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1223"/>
                </a:solidFill>
                <a:latin typeface="Verdana"/>
              </a:rPr>
              <a:t>Дефекты и разработки по Пилоту (4/7)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095" y="1030528"/>
          <a:ext cx="11415367" cy="4921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974"/>
                <a:gridCol w="863193"/>
                <a:gridCol w="3704234"/>
                <a:gridCol w="3461004"/>
                <a:gridCol w="1194206"/>
                <a:gridCol w="1711756"/>
              </a:tblGrid>
              <a:tr h="7388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№пп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Ключ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Задача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Ценность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Предварительная
оценка
реализации,
тыс.руб.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Статус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7157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3"/>
                        </a:rPr>
                        <a:t>DEFPROD-4335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DEFPROD-4335: Ошибка функциональности - В Этапах универсального процесса необходимо на активном этапе (синим) также отображать пользователя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В системе будет корректный и прозрачный маршрут согласования. понятный пользователям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32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7157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4"/>
                        </a:rPr>
                        <a:t>DEFPROD-4462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DEFPROD-4462: Ошибка функциональности - Дефект реестра платежей (отчет по лимитам) - часть 2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Возможность посмотреть как тот или иной реестр платежей повляет на отклонение от плана. Сейчас это контролируется руками в экселе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34 релиз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5"/>
                        </a:rPr>
                        <a:t>DEFPROD-4686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DEFPROD-4686: Ошибка функциональности - Обновление версий и договоров (автоЗНО)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Устранение разночтений между карточкой договора и версией договора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34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6"/>
                        </a:rPr>
                        <a:t>DEFPROD-5641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DEFPROD-5641: Ошибка функциональности - Реализовать процесс ведения БДДС в системе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проанализировать Осиповой в системе. Скорее всего Тираж.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уточнить требования релиз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7157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7"/>
                        </a:rPr>
                        <a:t>DEFPROD-6026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DEFPROD-6026: Ошибка функциональности - Добавить групповое изменение банковского счета получателя в ЗНО в документе реестр платежей</a:t>
                      </a:r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 – реализовано в УПП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Оптимизация времени работы с реестром. На изменение одной заявки вручную уходит 1,5 минуты.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34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8"/>
                        </a:rPr>
                        <a:t>DEFPROD-6290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DEFPROD-6290: Ошибка функциональности - Ошибка заполнения реквизита "Тип договора" в системе-приемнике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Корректная классификация договора с точки зрения учета казначейства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34 релиз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172" y="102412"/>
            <a:ext cx="2423160" cy="8936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095" y="33009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1223"/>
                </a:solidFill>
                <a:latin typeface="Verdana"/>
              </a:rPr>
              <a:t>Дефекты и разработки по Пилоту (5/7)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095" y="1030528"/>
          <a:ext cx="11415367" cy="5562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974"/>
                <a:gridCol w="863193"/>
                <a:gridCol w="3704234"/>
                <a:gridCol w="3461004"/>
                <a:gridCol w="1194206"/>
                <a:gridCol w="1711756"/>
              </a:tblGrid>
              <a:tr h="7388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№пп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Ключ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Задача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Ценность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Предварительная
оценка
реализации,
тыс.руб.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Статус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3"/>
                        </a:rPr>
                        <a:t>DEFPROD-6703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DEFPROD-6703: Новое требование - АвтоЗНО страны ЕАЭС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Расширение категорий для автоЗНО, уменьшение ручного труда на создание ЗНО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34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7157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4"/>
                        </a:rPr>
                        <a:t>DEFPROD-7774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DEFPROD-7774: Ошибка функциональности - В рамках одной заявки на расходы денежных средств инициатор не должен совпадать с согласующим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Обеспечение соблюдения требований внутреннего контроля. Риск - создание и согласование ЗНО одним лицом без доп контроля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34 релиз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5"/>
                        </a:rPr>
                        <a:t>DEFPROD-9034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DEFPROD-9034: Новое требование - Добавить в перечень запрещенных символов число Пи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Исключение ошибок при выгрузке платежей в банк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33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6"/>
                        </a:rPr>
                        <a:t>DEFPROD-9797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DEFPROD-9797: Ошибка функциональности - Замечания к отчету соответствия птиу и зно ч2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Наличие в системе корректного отчета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33 релиз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7"/>
                        </a:rPr>
                        <a:t>DEFPROD-9845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DEFPROD-9845: Новое требование - Добавить окончание номера счета в шаблон наименования банковского счета организации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Упрощение работы со списком банковских счетов (не нужно проваливаться в строчку, номер вижно в маске счета)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34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8"/>
                        </a:rPr>
                        <a:t>DEFPROD-10152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DEFPROD-10152: Ошибка функциональности - ЗНО по кредитным договорам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Устранение недочета, на процесс не влияет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33 релиз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7157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9"/>
                        </a:rPr>
                        <a:t>DEFPROD-10281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DEFPROD-10281: Ошибка функциональности - Реализовать выгрузку нескольких реестров платежей в форме реестра платежей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Оптимизация трудозатрат на ежедневную выгрузку реестров в эксель. Выгрузка одного реестра ~1 минута. В день может быть порядка 10ти реестров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34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172" y="102412"/>
            <a:ext cx="2423160" cy="8936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095" y="33009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1223"/>
                </a:solidFill>
                <a:latin typeface="Verdana"/>
              </a:rPr>
              <a:t>Дефекты и разработки по Пилоту (6/7)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095" y="1030528"/>
          <a:ext cx="11415367" cy="5205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974"/>
                <a:gridCol w="863193"/>
                <a:gridCol w="3704234"/>
                <a:gridCol w="3461004"/>
                <a:gridCol w="1194206"/>
                <a:gridCol w="1711756"/>
              </a:tblGrid>
              <a:tr h="7388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№пп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Ключ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Задача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Ценность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Предварительная
оценка
реализации,
тыс.руб.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Статус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3"/>
                        </a:rPr>
                        <a:t>DEFPROD-10282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DEFPROD-10282: Ошибка функциональности - Добавить отбор при выборе БС контрагентов в документе заявка на оплату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Снимет риск по выбору закрытого счета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33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4"/>
                        </a:rPr>
                        <a:t>DEFPROD-10579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DEFPROD-10579: Новое требование - Изменение нумерации реестров платежей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Из-за ошибки реестры формирутся позднее, чем должны. Доработка ускорит формирование автореетсров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36 релиз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103708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5"/>
                        </a:rPr>
                        <a:t>DEFPROD-6889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DEFPROD-6889: Замечание к роли - Изъять доступ у профиля Бухгалтер ЕРЦ на редактирование/снятие с проведения/пометки на удаление документа Списание безналичных ДС, с проставленным признаком "оплачено", имеющего в структуре заявку на оплату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Обеспечение соблюдения требований внутреннего контроля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34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7157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6"/>
                        </a:rPr>
                        <a:t>DEFPROD-8123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DEFPROD-8123: Ошибка функциональности - Настроить корректное заполнение реквизита Сумма для заявок на оплату в УЕ в отчете Неоплаченные заявки на оплату по статям ДДС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Позволит видеть корректные суммы в отчете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36 релиз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7"/>
                        </a:rPr>
                        <a:t>DEV-426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DEV-426: разработка - Создание обработки по ВК, создание документов СВО и СПД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Автоматизация процесса для соблюдения валютного законодательства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35 релиз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8"/>
                        </a:rPr>
                        <a:t>DEFPROD-3711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DEFPROD-3711: Ошибка функциональности - Добавить проверку для алгоритма автомаческих заявок в КОРП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Устранение неточности в работе алгоритма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30 релиз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172" y="102412"/>
            <a:ext cx="2423160" cy="8936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095" y="33009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1223"/>
                </a:solidFill>
                <a:latin typeface="Verdana"/>
              </a:rPr>
              <a:t>Дефекты и разработки по Пилоту (7/7)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095" y="1030528"/>
          <a:ext cx="11415367" cy="2293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974"/>
                <a:gridCol w="863193"/>
                <a:gridCol w="3704234"/>
                <a:gridCol w="3461004"/>
                <a:gridCol w="1194206"/>
                <a:gridCol w="1711756"/>
              </a:tblGrid>
              <a:tr h="738835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№пп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Ключ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Задача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Ценность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Предварительная
оценка
реализации,
тыс.руб.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Статус</a:t>
                      </a:r>
                    </a:p>
                  </a:txBody>
                  <a:tcPr anchor="ctr" marL="38100" marR="38100" marT="25400" marB="25400">
                    <a:solidFill>
                      <a:srgbClr val="AF182E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876427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3"/>
                        </a:rPr>
                        <a:t>FTR-12144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FTR-12144: Задача - FTR-12144: В документах "Принятие к учету ОС" и  "Перемещение ОС" необходимо автоматизировать заполнение адреса в зависимости от выбранного подразделения (получатель).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дубль строки 302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в работе</a:t>
                      </a:r>
                    </a:p>
                  </a:txBody>
                  <a:tcPr anchor="ctr" marL="38100" marR="38100" marT="25400" marB="25400">
                    <a:solidFill>
                      <a:srgbClr val="FFFFFF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  <a:tr h="6784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u="sng">
                          <a:solidFill>
                            <a:srgbClr val="77777A"/>
                          </a:solidFill>
                          <a:latin typeface="Calibri"/>
                          <a:hlinkClick r:id="rId4"/>
                        </a:rPr>
                        <a:t>DEFPROD-9230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DEFPROD-9230: Задача - DEFPROD-9230: Реализовать групповую обработку документов для пользователей</a:t>
                      </a:r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 – реализовано в УПП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согласовать с Адилем реализацию</a:t>
                      </a:r>
                    </a:p>
                  </a:txBody>
                  <a:tcPr anchor="ctr" marL="38100" marR="38100" marT="25400" marB="25400">
                    <a:solidFill>
                      <a:srgbClr val="F8E7E8"/>
                    </a:solidFill>
                    <a:lnL w="6350" cap="flat" cmpd="sng" algn="ctr">
                      <a:solidFill>
                        <a:srgbClr val="000000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</a:lnT>
                    <a:lnB w="6350" cap="flat" cmpd="sng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МИЧУРИН">
  <a:themeElements>
    <a:clrScheme name="МИЧУРИН">
      <a:dk1>
        <a:srgbClr val="000000"/>
      </a:dk1>
      <a:lt1>
        <a:srgbClr val="FFFFFF"/>
      </a:lt1>
      <a:dk2>
        <a:srgbClr val="454547"/>
      </a:dk2>
      <a:lt2>
        <a:srgbClr val="F8E7E8"/>
      </a:lt2>
      <a:accent1>
        <a:srgbClr val="D70036"/>
      </a:accent1>
      <a:accent2>
        <a:srgbClr val="AF182E"/>
      </a:accent2>
      <a:accent3>
        <a:srgbClr val="199646"/>
      </a:accent3>
      <a:accent4>
        <a:srgbClr val="831223"/>
      </a:accent4>
      <a:accent5>
        <a:srgbClr val="F0929F"/>
      </a:accent5>
      <a:accent6>
        <a:srgbClr val="8AEE8D"/>
      </a:accent6>
      <a:hlink>
        <a:srgbClr val="77777A"/>
      </a:hlink>
      <a:folHlink>
        <a:srgbClr val="454547"/>
      </a:folHlink>
    </a:clrScheme>
    <a:fontScheme name="МИЧУРИН">
      <a:maj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