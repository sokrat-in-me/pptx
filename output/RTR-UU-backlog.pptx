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rkizov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1417320" cy="4049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286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Бэклог задач команды RTR-УУ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14400"/>
          <a:ext cx="109270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594360"/>
                <a:gridCol w="594360"/>
                <a:gridCol w="4206240"/>
                <a:gridCol w="914400"/>
                <a:gridCol w="3566160"/>
              </a:tblGrid>
              <a:tr h="5364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 anchor="ctr" marL="50800" marR="50800" marT="38100" marB="38100">
                    <a:solidFill>
                      <a:srgbClr val="AE17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Доработка</a:t>
                      </a:r>
                    </a:p>
                  </a:txBody>
                  <a:tcPr anchor="ctr" marL="50800" marR="50800" marT="38100" marB="38100">
                    <a:solidFill>
                      <a:srgbClr val="AE17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Новая
задача</a:t>
                      </a:r>
                    </a:p>
                  </a:txBody>
                  <a:tcPr anchor="ctr" marL="50800" marR="50800" marT="38100" marB="38100">
                    <a:solidFill>
                      <a:srgbClr val="AE17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Ключ / Описание</a:t>
                      </a:r>
                    </a:p>
                  </a:txBody>
                  <a:tcPr anchor="ctr" marL="50800" marR="50800" marT="38100" marB="38100">
                    <a:solidFill>
                      <a:srgbClr val="AE17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Трудоемкость,
ч**</a:t>
                      </a:r>
                    </a:p>
                  </a:txBody>
                  <a:tcPr anchor="ctr" marL="50800" marR="50800" marT="38100" marB="38100">
                    <a:solidFill>
                      <a:srgbClr val="AE17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50800" marR="50800" marT="38100" marB="38100">
                    <a:solidFill>
                      <a:srgbClr val="AE172D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Ошибка функционала</a:t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DEFPROD-8589
Реализовать контроль по организации в ЗНО
Сложность: (3) — свинка</a:t>
                      </a:r>
                    </a:p>
                  </a:txBody>
                  <a:tcPr anchor="t" marL="50800" marR="50800" marT="38100" marB="3810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120+120</a:t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61B40"/>
                          </a:solidFill>
                          <a:latin typeface="Calibri"/>
                        </a:rPr>
                        <a:t>ВАЖНО!</a:t>
                      </a: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Высокие риски. Исключит применение некорректных настроек.</a:t>
                      </a:r>
                    </a:p>
                  </a:txBody>
                  <a:tcPr anchor="t"/>
                </a:tc>
              </a:tr>
              <a:tr h="5364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Разработка</a:t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DEV-16726
Реализовать алгоритм расчета отсрочки End of month
Сложность: (3) — свинка</a:t>
                      </a:r>
                    </a:p>
                  </a:txBody>
                  <a:tcPr anchor="t" marL="50800" marR="50800" marT="38100" marB="3810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60+60</a:t>
                      </a:r>
                    </a:p>
                  </a:txBody>
                  <a:tcPr anchor="ctr" marL="50800" marR="50800" marT="38100" marB="3810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61B40"/>
                          </a:solidFill>
                          <a:latin typeface="Calibri"/>
                        </a:rPr>
                        <a:t>ВАЖНО!</a:t>
                      </a: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Рост среднего количества обращений. Снижение трудозатрат на ручной расчет.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3550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05050"/>
                </a:solidFill>
                <a:latin typeface="Calibri"/>
              </a:rPr>
              <a:t>* приоритет: Высокий</a:t>
            </a:r>
          </a:p>
          <a:p>
            <a:r>
              <a:rPr sz="900">
                <a:solidFill>
                  <a:srgbClr val="505050"/>
                </a:solidFill>
                <a:latin typeface="Calibri"/>
              </a:rPr>
              <a:t>** трудозатраты: аналитик + разработчик, 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